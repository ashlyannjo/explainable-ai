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Roboto Serif ExtraBold"/>
      <p:bold r:id="rId19"/>
      <p:boldItalic r:id="rId20"/>
    </p:embeddedFont>
    <p:embeddedFont>
      <p:font typeface="Spectral ExtraBold"/>
      <p:bold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SerifExtraBold-boldItalic.fntdata"/><Relationship Id="rId11" Type="http://schemas.openxmlformats.org/officeDocument/2006/relationships/slide" Target="slides/slide6.xml"/><Relationship Id="rId22" Type="http://schemas.openxmlformats.org/officeDocument/2006/relationships/font" Target="fonts/SpectralExtraBold-boldItalic.fntdata"/><Relationship Id="rId10" Type="http://schemas.openxmlformats.org/officeDocument/2006/relationships/slide" Target="slides/slide5.xml"/><Relationship Id="rId21" Type="http://schemas.openxmlformats.org/officeDocument/2006/relationships/font" Target="fonts/SpectralExtraBold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SerifExtraBold-bold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083b1fe55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083b1fe55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083b1fe55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083b1fe55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083b1fe55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083b1fe55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083b1fe55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083b1fe55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083b1fe557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083b1fe557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083b1fe557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083b1fe557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083b1fe557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083b1fe557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083b1fe557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083b1fe557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083b1fe557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083b1fe557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083b1fe557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083b1fe557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083b1fe557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083b1fe557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083b1fe557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083b1fe557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2016476" cy="113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963650" y="-24000"/>
            <a:ext cx="1180350" cy="11764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colab.research.google.com/drive/1XSFPj9x2Q57fVbLfxmjnMke23PUXn5Pi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2252725"/>
            <a:ext cx="8520600" cy="20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188038"/>
                </a:solidFill>
                <a:latin typeface="Roboto Serif ExtraBold"/>
                <a:ea typeface="Roboto Serif ExtraBold"/>
                <a:cs typeface="Roboto Serif ExtraBold"/>
                <a:sym typeface="Roboto Serif ExtraBold"/>
              </a:rPr>
              <a:t>Building Machine Learning Models with </a:t>
            </a:r>
            <a:endParaRPr sz="2400">
              <a:solidFill>
                <a:srgbClr val="188038"/>
              </a:solidFill>
              <a:latin typeface="Roboto Serif ExtraBold"/>
              <a:ea typeface="Roboto Serif ExtraBold"/>
              <a:cs typeface="Roboto Serif ExtraBold"/>
              <a:sym typeface="Roboto Serif ExtraBo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188038"/>
                </a:solidFill>
                <a:latin typeface="Roboto Serif ExtraBold"/>
                <a:ea typeface="Roboto Serif ExtraBold"/>
                <a:cs typeface="Roboto Serif ExtraBold"/>
                <a:sym typeface="Roboto Serif ExtraBold"/>
              </a:rPr>
              <a:t>the UCI Adult Census Income Dataset</a:t>
            </a:r>
            <a:endParaRPr sz="2400">
              <a:solidFill>
                <a:srgbClr val="188038"/>
              </a:solidFill>
              <a:latin typeface="Roboto Serif ExtraBold"/>
              <a:ea typeface="Roboto Serif ExtraBold"/>
              <a:cs typeface="Roboto Serif ExtraBold"/>
              <a:sym typeface="Roboto Serif ExtraBold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188038"/>
              </a:solidFill>
              <a:latin typeface="Roboto Serif ExtraBold"/>
              <a:ea typeface="Roboto Serif ExtraBold"/>
              <a:cs typeface="Roboto Serif ExtraBold"/>
              <a:sym typeface="Roboto Serif ExtraBold"/>
            </a:endParaRPr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466625" y="1736300"/>
            <a:ext cx="8520600" cy="17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EF6C00"/>
              </a:solidFill>
              <a:latin typeface="Spectral ExtraBold"/>
              <a:ea typeface="Spectral ExtraBold"/>
              <a:cs typeface="Spectral ExtraBold"/>
              <a:sym typeface="Spectral ExtraBo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/>
              <a:t>Overview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Objective: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Predict whether an individual's income exceeds $50K/year based on census data.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Agenda: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AutoNum type="arabicPeriod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Exploratory Data Analysis (EDA)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AutoNum type="arabicPeriod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Preprocessing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AutoNum type="arabicPeriod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Handling Imbalanced Data with SMOTE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AutoNum type="arabicPeriod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Building Machine Learning Models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AutoNum type="arabicPeriod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Hyperparameter Tuning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AutoNum type="arabicPeriod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Combining Models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AutoNum type="arabicPeriod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Evaluation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Exploratory Data Analysis (EDA)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Source: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UCI Machine Learning Repository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Dataset: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Adult Census Income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Libraries Used: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○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pandas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○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matplotlib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○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seaborn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/>
              <a:t>Data Overview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Inspecting the Data: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data.head()</a:t>
            </a:r>
            <a:endParaRPr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data.info()</a:t>
            </a:r>
            <a:endParaRPr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data.describe()</a:t>
            </a:r>
            <a:endParaRPr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Points: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data.head()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view the first few rows.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data.info()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provided data types and non-null counts.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data.describe()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gave statistical summaries.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/>
              <a:t>Handling Missing Values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Identifying Missing Values:</a:t>
            </a:r>
            <a:b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data.isnull().sum()</a:t>
            </a:r>
            <a:endParaRPr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Dropping Missing Values:</a:t>
            </a:r>
            <a:b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= data.dropna()</a:t>
            </a:r>
            <a:endParaRPr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Points: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○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Checked for missing values in each column.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○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Removed rows with missing values to clean the dataset.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/>
              <a:t>Data Preprocessing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Steps: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○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Encode categorical variables.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○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Scale numerical features.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○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Split data into training and test sets.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/>
              <a:t>Encoding Categorical Variables</a:t>
            </a:r>
            <a:endParaRPr b="1" sz="18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sklearn.preprocessing import LabelEncoder</a:t>
            </a:r>
            <a:endParaRPr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categorical_vars = [ ... ]  # List of categorical columns</a:t>
            </a:r>
            <a:endParaRPr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 = LabelEncoder()</a:t>
            </a:r>
            <a:endParaRPr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col in categorical_vars:</a:t>
            </a:r>
            <a:endParaRPr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data[col] = le.fit_transform(data[col])</a:t>
            </a:r>
            <a:endParaRPr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Points: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Converted text data into numerical labels using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LabelEncoder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○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data for machine learning algorithms.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b="1" lang="en" sz="1700"/>
              <a:t>Feature Scaling</a:t>
            </a:r>
            <a:endParaRPr b="1" sz="17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sklearn.preprocessing import MinMaxScaler</a:t>
            </a:r>
            <a:endParaRPr sz="170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numeric_vars = [ ... ]  # List of numerical columns</a:t>
            </a:r>
            <a:endParaRPr sz="170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scaler = MinMaxScaler()</a:t>
            </a:r>
            <a:endParaRPr sz="170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data[numeric_vars] = scaler.fit_transform(data[numeric_vars])</a:t>
            </a:r>
            <a:endParaRPr sz="170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Points:</a:t>
            </a:r>
            <a:endParaRPr b="1"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○"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Scaled numerical features to a range between 0 and 1.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○"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Improved algorithm performance and convergence.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b="1" lang="en" sz="1700"/>
              <a:t>Splitting the Data</a:t>
            </a:r>
            <a:endParaRPr b="1" sz="17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sklearn.model_selection import train_test_split</a:t>
            </a:r>
            <a:endParaRPr sz="160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= data.drop('income', axis=1)</a:t>
            </a:r>
            <a:endParaRPr sz="160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= data['income']</a:t>
            </a:r>
            <a:endParaRPr sz="160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X_train, X_test, y_train, y_test = train_test_split(</a:t>
            </a:r>
            <a:endParaRPr sz="160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X, y, test_size=0.2, stratify=y, random_state=42</a:t>
            </a:r>
            <a:endParaRPr sz="160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60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Points: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○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Split data into training and testing sets.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○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stratification to maintain class distribution.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/>
              <a:t>Handling Imbalanced Data with SMOTE</a:t>
            </a:r>
            <a:endParaRPr/>
          </a:p>
        </p:txBody>
      </p:sp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Identifying Class Imbalance:</a:t>
            </a:r>
            <a:b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6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y_train.value_counts()</a:t>
            </a:r>
            <a:endParaRPr sz="160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Applying SMOTE:</a:t>
            </a:r>
            <a:b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6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imblearn.over_sampling import SMOTE</a:t>
            </a:r>
            <a:endParaRPr sz="160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smote = SMOTE(random_state=42)</a:t>
            </a:r>
            <a:endParaRPr sz="160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X_train_res, y_train_res = smote.fit_resample(X_train, y_train)</a:t>
            </a:r>
            <a:endParaRPr sz="160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Points: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○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Balanced the dataset using SMOTE.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○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Generated synthetic samples for the minority class.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b="1" lang="en" sz="1700"/>
              <a:t>Building Machine Learning Models</a:t>
            </a:r>
            <a:endParaRPr b="1" sz="17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Models Implemented: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Logistic Regression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Decision Tree Classifier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 Forest Classifier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Vector Machine (SVM)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K-Nearest Neighbors (KNN)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Naive Bayes Classifier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/>
              <a:t>Training the Models</a:t>
            </a:r>
            <a:endParaRPr/>
          </a:p>
        </p:txBody>
      </p:sp>
      <p:sp>
        <p:nvSpPr>
          <p:cNvPr id="123" name="Google Shape;123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Logistic Regression</a:t>
            </a:r>
            <a:b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6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sklearn.linear_model import LogisticRegression</a:t>
            </a:r>
            <a:endParaRPr sz="160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log_reg = LogisticRegression(max_iter=1000, random_state=42)</a:t>
            </a:r>
            <a:endParaRPr sz="160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log_reg.fit(X_train_res, y_train_res)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Points: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Increased </a:t>
            </a:r>
            <a:r>
              <a:rPr lang="en" sz="16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max_iter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ensure convergence.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○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Similar steps were followed for other models.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Hands On Workbook</a:t>
            </a:r>
            <a:endParaRPr/>
          </a:p>
        </p:txBody>
      </p:sp>
      <p:sp>
        <p:nvSpPr>
          <p:cNvPr id="129" name="Google Shape;129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https://colab.research.google.com/drive/1XSFPj9x2Q57fVbLfxmjnMke23PUXn5Pi?usp=sharing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